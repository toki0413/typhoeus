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开场：台风过后，城市要回答三个问题，布在哪、什么时候启动、花多少钱。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三个问题必须当天回答，等报告来不及。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四步：推演、编译、判据、交付。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四层结构，服务层只读文件。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六步计算，每一步都能追。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两枚指纹和一本水量账。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八份产物，三类读者。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案例数字：259.1 毫米，0.493 米，12 处布点，258 毫米启动。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场 36 年，雨量翻倍损失约 4.3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排序比随机、按度都好 27.8%。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泛化：强度控制峰值，不是总量。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三种用法，一套数据。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收束：布点、启动线、抢修顺序。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440000">
            <a:off x="7498079" y="-1280160"/>
            <a:ext cx="2011680" cy="10515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440000">
            <a:off x="9052560" y="-914400"/>
            <a:ext cx="457200" cy="9144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822960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9601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一场雨之后，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该修哪里，花多少钱，什么时候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台风暴雨城市内涝推演与值班工具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TYPHOEUS / 内核 0.6.1 / 全链 70 秒 / 9 个只读工具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台风过后，三个问题必须当天回答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38328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146304" cy="2926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布在哪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20440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 个点先布还是后布，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靠人抄台账对不上时间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148840"/>
            <a:ext cx="338328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148840"/>
            <a:ext cx="146304" cy="2926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33172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什么时候启动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520440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雨量到多少毫米、风到多少级，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预案里没有本片区的数字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148840"/>
            <a:ext cx="338328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148840"/>
            <a:ext cx="146304" cy="2926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33172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花多少钱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520440"/>
            <a:ext cx="2834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换 1% 的损失要投多少，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立项时给不出区间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三个问题以前要等评估报告；报告出来，雨已经过去了。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做法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四步，把一场雨变成三张能用的单子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685800" cy="685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031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推演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30552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把降雨解成水深场，逐笔核对水量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685800" cy="685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27832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5467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编译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82112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八份产物：布点单、抢修单、价目表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60520"/>
            <a:ext cx="685800" cy="685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79392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062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判据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33672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27 条判据，逐条给判定与实测值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212079"/>
            <a:ext cx="685800" cy="6858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30951"/>
            <a:ext cx="685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25779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285231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值班员拿布点单，规划岗拿价目表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全链 70 秒，每个数字带配置与数据指纹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四层结构，层与层之间只通过已保存的文件通信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103120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计算层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6596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坡面流、入渗、能量、排水、汇流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208483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纯 CPU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71800"/>
            <a:ext cx="210312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编译层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10896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八份产物：方案、排序、对账、定价、指标、报告、标定、涝点卡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322783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14800"/>
            <a:ext cx="2103120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3434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25196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 个只读工具，4 条限制：越域拒答、弱基线不出排序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437083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257800"/>
            <a:ext cx="2103120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864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界面层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39496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值班台、驾驶舱、涝点卡、避险页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551383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浏览器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服务层只读已保存的文件，不重算、不改参数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内核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六步计算，每一步都能单独查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508760" cy="731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降雨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2103120"/>
            <a:ext cx="15087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224028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入渗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1508760" cy="731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24028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能量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03120"/>
            <a:ext cx="15087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24028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坡面流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103120"/>
            <a:ext cx="1508760" cy="731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24028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排水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60" y="2103120"/>
            <a:ext cx="15087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224028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汇流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标量定总量，逐时序列定形状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土壤含水量驱动入渗，硬化面折减系数进指纹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净辐射、感热、潜热、土壤热流四项闭合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水量只搬运，不凭空产生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水深低于管顶不排水，顶托以上按水头过流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上游失去的水量完整计入受体格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守恒相对残差 5.56×10⁻⁹，容差 1×10⁻⁶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可复算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两枚指纹，一本水量账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配置指纹 config_hash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e464fea5962b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数据指纹 source_hash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40d07eb29407b4b6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四层参数合成配置指纹，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数据与路径合成数据指纹。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44805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2140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降雨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0574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259.1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788920"/>
            <a:ext cx="44805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9864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下渗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346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5.49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566160"/>
            <a:ext cx="44805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7588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排水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220.6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343400"/>
            <a:ext cx="44805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5312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域内蓄水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389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16.64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降雨 = 下渗 + 排水 + 边界出流 + 域内蓄水 + 截断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残差 5.56×10⁻⁹，超容差停算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一次推演，八份产物，三类读者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25603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预置方案单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79" y="1874519"/>
            <a:ext cx="2560320" cy="731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2057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恢复排序单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74519"/>
            <a:ext cx="25603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事件对账单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19" y="1874519"/>
            <a:ext cx="2560320" cy="731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19" y="2057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韧性价目表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34639"/>
            <a:ext cx="25603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体检指标包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79" y="2834639"/>
            <a:ext cx="2560320" cy="731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30175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标准体检报告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834639"/>
            <a:ext cx="25603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多事件标定单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19" y="2834639"/>
            <a:ext cx="2560320" cy="7315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30175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涝点转译卡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值班室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160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28 张涝点卡：实测、推演、能否采信、处置建议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188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规划岗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81888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决策卡：五类分型，翻档雨量阈值，建议手段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7725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市民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477256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避险页：只说哪条路别走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2021 年台风烟花，宁波鄞东南片区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259.1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面雨量 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1874519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0.493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27432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峰值水深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建议布点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1874519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258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27432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启动雨量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积水分级（域内格点占比）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绿 &lt;0.1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931920"/>
            <a:ext cx="4157593" cy="2743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8862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黄 0.1–0.2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498848"/>
            <a:ext cx="641908" cy="274320"/>
          </a:xfrm>
          <a:prstGeom prst="rect">
            <a:avLst/>
          </a:prstGeom>
          <a:solidFill>
            <a:srgbClr val="8C8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45312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13.0%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0056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橙 0.2–0.5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5065776"/>
            <a:ext cx="133319" cy="274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502005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86983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红 ≥0.5 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5632703"/>
            <a:ext cx="18288" cy="274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5586983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8862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 处点位、258 毫米启动线、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三级响应，可直接写进值班表。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标定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 场台风、36 年，雨量和损失的关系稳定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面雨量翻倍，功能损失约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4.3 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幂律斜率 2.12，R² 0.88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秩相关 0.9945（13 场可比）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103120"/>
            <a:ext cx="4206240" cy="18288"/>
          </a:xfrm>
          <a:prstGeom prst="rect">
            <a:avLst/>
          </a:prstGeom>
          <a:solidFill>
            <a:srgbClr val="8C8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1284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4883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1990–2025，18 场，36 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971800"/>
            <a:ext cx="4206240" cy="18288"/>
          </a:xfrm>
          <a:prstGeom prst="rect">
            <a:avLst/>
          </a:prstGeom>
          <a:solidFill>
            <a:srgbClr val="8C8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0815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实算成功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175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 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840479"/>
            <a:ext cx="4206240" cy="18288"/>
          </a:xfrm>
          <a:prstGeom prst="rect">
            <a:avLst/>
          </a:prstGeom>
          <a:solidFill>
            <a:srgbClr val="8C8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50207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致涝场次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88619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709159"/>
            <a:ext cx="4206240" cy="18288"/>
          </a:xfrm>
          <a:prstGeom prst="rect">
            <a:avLst/>
          </a:prstGeom>
          <a:solidFill>
            <a:srgbClr val="8C8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81888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年均事件率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75487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0.389 场/年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抢修排序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同样的队伍，按它排多恢复 27.8% 的功能面积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相对双基线的提升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572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+27.8%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随机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507992"/>
            <a:ext cx="2571750" cy="292608"/>
          </a:xfrm>
          <a:prstGeom prst="rect">
            <a:avLst/>
          </a:prstGeom>
          <a:solidFill>
            <a:srgbClr val="8C8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44805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按度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010912"/>
            <a:ext cx="2906077" cy="292608"/>
          </a:xfrm>
          <a:prstGeom prst="rect">
            <a:avLst/>
          </a:prstGeom>
          <a:solidFill>
            <a:srgbClr val="8C8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4983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次模贪心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5513832"/>
            <a:ext cx="3291840" cy="2926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54864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377440"/>
            <a:ext cx="4480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评分窗口 72 小时，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与事件窗对齐。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排名受窗口影响，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数字要带窗口。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城 × 3 场，参数不逐城重标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场次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201168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9659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面雨量 mm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377440"/>
            <a:ext cx="201168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9659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最大小时雨强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377440"/>
            <a:ext cx="201168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9659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峰值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2377440"/>
            <a:ext cx="201168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06039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AMPIL 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606039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283.6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606039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606039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IN-FA 2021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2461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638.1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2461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7.56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2461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862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DANAS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8862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232.2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8862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8862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0.387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跟面雨量同序 0/5，跟最大小时雨强同序 5/5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IN-FA 面雨量是 AMPIL 的 2.25 倍，峰值更低，因为雨摊在更长时间里。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下一步接亚小时雨强，比接更多年总量更有用。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8102E"/>
                </a:solidFill>
                <a:latin typeface="Arial"/>
                <a:ea typeface="Arial"/>
                <a:cs typeface="Arial"/>
              </a:rPr>
              <a:t>形态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三种用法，一套数据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28016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DSH 插件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5915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9 个只读工具，护栏在工具层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128016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本地值班台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9359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三个数字，问题按钮，八份产物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89120"/>
            <a:ext cx="128016" cy="8686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38912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离线验收包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2803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源码、数据、产物、一键验收</a:t>
            </a:r>
          </a:p>
        </p:txBody>
      </p:sp>
      <p:pic>
        <p:nvPicPr>
          <p:cNvPr id="14" name="Picture 13" descr="webap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83080"/>
            <a:ext cx="5760720" cy="402050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89320" y="1783080"/>
            <a:ext cx="5760720" cy="402050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59893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值班台：三个数字、问题按钮、审计折叠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120000">
            <a:off x="-1097280" y="4389120"/>
            <a:ext cx="14630400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822960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241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今天就能用：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排出 12 个点，定下 258 毫米的启动线，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排好抢修顺序。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C8880"/>
                </a:solidFill>
                <a:latin typeface="Arial"/>
                <a:ea typeface="Arial"/>
                <a:cs typeface="Arial"/>
              </a:rPr>
              <a:t>18 场台风 / 36 年 / 全链 70 秒 / 9 个只读工具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