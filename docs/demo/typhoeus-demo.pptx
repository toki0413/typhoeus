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格点占比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绿 &lt;0.1m</c:v>
                </c:pt>
                <c:pt idx="1">
                  <c:v>黄 0.1–0.2m</c:v>
                </c:pt>
                <c:pt idx="2">
                  <c:v>橙 0.2–0.5m</c:v>
                </c:pt>
                <c:pt idx="3">
                  <c:v>红 ≥0.5m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84.2</c:v>
                </c:pt>
                <c:pt idx="1">
                  <c:v>13.0</c:v>
                </c:pt>
                <c:pt idx="2">
                  <c:v>2.7</c:v>
                </c:pt>
                <c:pt idx="3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功能面积（相对）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随机</c:v>
                </c:pt>
                <c:pt idx="1">
                  <c:v>按度</c:v>
                </c:pt>
                <c:pt idx="2">
                  <c:v>次模贪心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113</c:v>
                </c:pt>
                <c:pt idx="2">
                  <c:v>128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开场：每场台风过后，城市要回答三个问题——哪些点必须动、该用什么手段、要做到什么程度。我们用一条可复算的决策链来回答，而不是再做一个更花哨的模型。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先讲矛盾：专业模型要几个月，决策只有几小时。这不是算得快一点能解决的，因为如果快了但算出来的东西没人能核对，它进不了问责链条。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四步：推演、编译、判据、交付。注意第三步不是装饰——判据决定了这份东西能不能被验收。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四层。最关键的一条边界：服务层只能读落盘产物。所以智能助手看到的数字，和验收方核对的数字，是同一批文件。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六段链路。每一段都有明确的物理假设和可调参数，没有黑箱。这也是为什么数字能被追问到具体环节。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可复算不是口号：两枚指纹 + 一本水量账。残差 5.56e-9，超了就直接停算，不输出降级结果。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八份产物不是终点，按岗位重组成三类产品才是。值班员要句子，规划岗要阈值，市民要一句话。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烟花这场：面雨量 259 mm，峰值 0.493 m 出现在第 42.7 小时。注意分布——八成格点是绿的，风险集中在少数点，所以交付要逐点。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跨事件标定：18 场、36 年，斜率 2.12。雨量翻倍损失约 4.3 倍。这条关系比任何单场结论都稳——烟花只是第 2 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抢修排序：次模贪心比随机和按度都好 27.8%。门槛不只看排名，还看口径是否说清。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泛化实验：5 城 3 场。结论很硬——峰值跟雨强同序 5/5，跟总量同序 0/5。所以下一阶段要接的是雷达/分钟级雨量，不是更多年总量。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右边是值班台真实首屏：三个数字、五个问题按钮，审计信息折叠在最后。三种形态：插件、值班台、离线验收包，共用同一套产物和护栏。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收束：我们不承诺逐点水深，交付的是分级、阈值、排序，以及每个数字的出处。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5B942"/>
                </a:solidFill>
                <a:latin typeface="Microsoft YaHei"/>
              </a:rPr>
              <a:t>TYPHOEUS · 提比翁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3716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icrosoft YaHei"/>
              </a:rPr>
              <a:t>一场雨之后，
该修哪里、花多少钱、什么时候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8229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A9CFD6"/>
                </a:solidFill>
                <a:latin typeface="Microsoft YaHei"/>
              </a:rPr>
              <a:t>台风暴雨城市内涝 · 快速推演与涝点决策支持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1051560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9CFD6"/>
                </a:solidFill>
                <a:latin typeface="Microsoft YaHei"/>
              </a:rPr>
              <a:t>内核 0.6.1 ｜ 全链 70 秒 ｜ 纯 CPU ｜ 9 个只读工具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6E8F"/>
                </a:solidFill>
                <a:latin typeface="Microsoft YaHei"/>
              </a:rPr>
              <a:t>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4212B"/>
                </a:solidFill>
                <a:latin typeface="Microsoft YaHei"/>
              </a:rPr>
              <a:t>台风过后，三个问题必须当天回答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828800"/>
            <a:ext cx="3383280" cy="2103120"/>
          </a:xfrm>
          <a:prstGeom prst="rect">
            <a:avLst/>
          </a:prstGeom>
          <a:solidFill>
            <a:srgbClr val="F2F8F9"/>
          </a:solidFill>
          <a:ln>
            <a:solidFill>
              <a:srgbClr val="DD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2926080" cy="7315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6E8F"/>
                </a:solidFill>
                <a:latin typeface="Microsoft YaHei"/>
              </a:rPr>
              <a:t>布在哪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80360"/>
            <a:ext cx="2926080" cy="9144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B78"/>
                </a:solidFill>
                <a:latin typeface="Microsoft YaHei"/>
              </a:rPr>
              <a:t>12 个点先布还是后布，靠人手抄台账对不上时间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828800"/>
            <a:ext cx="3383280" cy="2103120"/>
          </a:xfrm>
          <a:prstGeom prst="rect">
            <a:avLst/>
          </a:prstGeom>
          <a:solidFill>
            <a:srgbClr val="F2F8F9"/>
          </a:solidFill>
          <a:ln>
            <a:solidFill>
              <a:srgbClr val="DD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2057400"/>
            <a:ext cx="2926080" cy="7315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6E8F"/>
                </a:solidFill>
                <a:latin typeface="Microsoft YaHei"/>
              </a:rPr>
              <a:t>什么时候启动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2880360"/>
            <a:ext cx="2926080" cy="9144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B78"/>
                </a:solidFill>
                <a:latin typeface="Microsoft YaHei"/>
              </a:rPr>
              <a:t>雨量到多少毫米、风到多少级，预案里没有本片区的数字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92440" y="1828800"/>
            <a:ext cx="3383280" cy="2103120"/>
          </a:xfrm>
          <a:prstGeom prst="rect">
            <a:avLst/>
          </a:prstGeom>
          <a:solidFill>
            <a:srgbClr val="F2F8F9"/>
          </a:solidFill>
          <a:ln>
            <a:solidFill>
              <a:srgbClr val="DD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2057400"/>
            <a:ext cx="2926080" cy="7315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6E8F"/>
                </a:solidFill>
                <a:latin typeface="Microsoft YaHei"/>
              </a:rPr>
              <a:t>花多少钱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880360"/>
            <a:ext cx="2926080" cy="9144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B78"/>
                </a:solidFill>
                <a:latin typeface="Microsoft YaHei"/>
              </a:rPr>
              <a:t>换 1% 的损失要投多少，立项时给不出区间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89120"/>
            <a:ext cx="10789920" cy="12801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4212B"/>
                </a:solidFill>
                <a:latin typeface="Microsoft YaHei"/>
              </a:rPr>
              <a:t>三个问题以前要等评估报告；报告出来，雨已经过去了。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55080"/>
            <a:ext cx="10789920" cy="3200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B78"/>
                </a:solidFill>
                <a:latin typeface="Microsoft YaHei"/>
              </a:rPr>
              <a:t>数据来源：项目内 18 场台风回放与宁波鄞东南片区实测台账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6E8F"/>
                </a:solidFill>
                <a:latin typeface="Microsoft YaHei"/>
              </a:rPr>
              <a:t>做法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4212B"/>
                </a:solidFill>
                <a:latin typeface="Microsoft YaHei"/>
              </a:rPr>
              <a:t>四步，把一场雨变成三张能用的单子</a:t>
            </a:r>
          </a:p>
        </p:txBody>
      </p:sp>
      <p:sp>
        <p:nvSpPr>
          <p:cNvPr id="4" name="Oval 3"/>
          <p:cNvSpPr/>
          <p:nvPr/>
        </p:nvSpPr>
        <p:spPr>
          <a:xfrm>
            <a:off x="777240" y="1874519"/>
            <a:ext cx="384048" cy="384048"/>
          </a:xfrm>
          <a:prstGeom prst="ellipse">
            <a:avLst/>
          </a:prstGeom>
          <a:solidFill>
            <a:srgbClr val="0B6E8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783080"/>
            <a:ext cx="146304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4212B"/>
                </a:solidFill>
                <a:latin typeface="Microsoft YaHei"/>
              </a:rPr>
              <a:t>① 推演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828800"/>
            <a:ext cx="8503920" cy="5486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B6B78"/>
                </a:solidFill>
                <a:latin typeface="Microsoft YaHei"/>
              </a:rPr>
              <a:t>确定性内核把降雨解成水深场，逐笔核对水量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2926079"/>
            <a:ext cx="384048" cy="384048"/>
          </a:xfrm>
          <a:prstGeom prst="ellipse">
            <a:avLst/>
          </a:prstGeom>
          <a:solidFill>
            <a:srgbClr val="0B6E8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834639"/>
            <a:ext cx="146304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4212B"/>
                </a:solidFill>
                <a:latin typeface="Microsoft YaHei"/>
              </a:rPr>
              <a:t>② 编译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880359"/>
            <a:ext cx="8503920" cy="5486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B6B78"/>
                </a:solidFill>
                <a:latin typeface="Microsoft YaHei"/>
              </a:rPr>
              <a:t>八份产物：布点单、抢修单、价目表、对账单等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977639"/>
            <a:ext cx="384048" cy="384048"/>
          </a:xfrm>
          <a:prstGeom prst="ellipse">
            <a:avLst/>
          </a:prstGeom>
          <a:solidFill>
            <a:srgbClr val="0B6E8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3886200"/>
            <a:ext cx="146304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4212B"/>
                </a:solidFill>
                <a:latin typeface="Microsoft YaHei"/>
              </a:rPr>
              <a:t>③ 判据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3931920"/>
            <a:ext cx="8503920" cy="5486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B6B78"/>
                </a:solidFill>
                <a:latin typeface="Microsoft YaHei"/>
              </a:rPr>
              <a:t>27 条独立判据，逐条给判定、实测值与根因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5029199"/>
            <a:ext cx="384048" cy="384048"/>
          </a:xfrm>
          <a:prstGeom prst="ellipse">
            <a:avLst/>
          </a:prstGeom>
          <a:solidFill>
            <a:srgbClr val="0B6E8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937759"/>
            <a:ext cx="146304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4212B"/>
                </a:solidFill>
                <a:latin typeface="Microsoft YaHei"/>
              </a:rPr>
              <a:t>④ 交付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4983479"/>
            <a:ext cx="8503920" cy="5486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B6B78"/>
                </a:solidFill>
                <a:latin typeface="Microsoft YaHei"/>
              </a:rPr>
              <a:t>值班员拿布点单，规划岗拿价目表，公众拿避险页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806440"/>
            <a:ext cx="1051560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6E8F"/>
                </a:solidFill>
                <a:latin typeface="Microsoft YaHei"/>
              </a:rPr>
              <a:t>全链 70 秒；每个数字带配置与数据指纹，可复算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6E8F"/>
                </a:solidFill>
                <a:latin typeface="Microsoft YaHei"/>
              </a:rPr>
              <a:t>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4212B"/>
                </a:solidFill>
                <a:latin typeface="Microsoft YaHei"/>
              </a:rPr>
              <a:t>四层结构，层与层之间只通过已保存的文件通信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00200"/>
            <a:ext cx="1828800" cy="868680"/>
          </a:xfrm>
          <a:prstGeom prst="rect">
            <a:avLst/>
          </a:prstGeom>
          <a:solidFill>
            <a:srgbClr val="0B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01368"/>
            <a:ext cx="164592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Microsoft YaHei"/>
              </a:rPr>
              <a:t>计算层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709928"/>
            <a:ext cx="6949440" cy="7315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4212B"/>
                </a:solidFill>
                <a:latin typeface="Microsoft YaHei"/>
              </a:rPr>
              <a:t>守恒律坡面流 · Green-Ampt 入渗 · Ghil-Sellers 能量 · 堰式排水 · D8 汇流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1874519"/>
            <a:ext cx="173736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B78"/>
                </a:solidFill>
                <a:latin typeface="Microsoft YaHei"/>
              </a:rPr>
              <a:t>纯 CPU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743200"/>
            <a:ext cx="1828800" cy="868680"/>
          </a:xfrm>
          <a:prstGeom prst="rect">
            <a:avLst/>
          </a:prstGeom>
          <a:solidFill>
            <a:srgbClr val="0B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944368"/>
            <a:ext cx="164592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Microsoft YaHei"/>
              </a:rPr>
              <a:t>编译层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852928"/>
            <a:ext cx="6949440" cy="7315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4212B"/>
                </a:solidFill>
                <a:latin typeface="Microsoft YaHei"/>
              </a:rPr>
              <a:t>八份产物：方案 / 排序 / 对账 / 定价 / 指标 / 报告 / 标定 / 涝点卡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3017520"/>
            <a:ext cx="173736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B78"/>
                </a:solidFill>
                <a:latin typeface="Microsoft YaHei"/>
              </a:rPr>
              <a:t>JSON + 页面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886200"/>
            <a:ext cx="1828800" cy="868680"/>
          </a:xfrm>
          <a:prstGeom prst="rect">
            <a:avLst/>
          </a:prstGeom>
          <a:solidFill>
            <a:srgbClr val="0B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87368"/>
            <a:ext cx="164592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Microsoft YaHei"/>
              </a:rPr>
              <a:t>服务层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995928"/>
            <a:ext cx="6949440" cy="7315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4212B"/>
                </a:solidFill>
                <a:latin typeface="Microsoft YaHei"/>
              </a:rPr>
              <a:t>9 个只读工具 + 4 条限制：越域拒答、弱基线不出排序、单口径不返数字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0" y="4160520"/>
            <a:ext cx="173736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B78"/>
                </a:solidFill>
                <a:latin typeface="Microsoft YaHei"/>
              </a:rPr>
              <a:t>MCP / 值班台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5029200"/>
            <a:ext cx="1828800" cy="868680"/>
          </a:xfrm>
          <a:prstGeom prst="rect">
            <a:avLst/>
          </a:prstGeom>
          <a:solidFill>
            <a:srgbClr val="0B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230368"/>
            <a:ext cx="164592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Microsoft YaHei"/>
              </a:rPr>
              <a:t>界面层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5138928"/>
            <a:ext cx="6949440" cy="7315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4212B"/>
                </a:solidFill>
                <a:latin typeface="Microsoft YaHei"/>
              </a:rPr>
              <a:t>值班台、驾驶舱、涝点卡页、市民避险页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0" y="5303520"/>
            <a:ext cx="173736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B78"/>
                </a:solidFill>
                <a:latin typeface="Microsoft YaHei"/>
              </a:rPr>
              <a:t>浏览器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55080"/>
            <a:ext cx="10789920" cy="3200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B78"/>
                </a:solidFill>
                <a:latin typeface="Microsoft YaHei"/>
              </a:rPr>
              <a:t>服务层只读已保存的文件，不重算、不改参数、不写文件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6E8F"/>
                </a:solidFill>
                <a:latin typeface="Microsoft YaHei"/>
              </a:rPr>
              <a:t>内核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4212B"/>
                </a:solidFill>
                <a:latin typeface="Microsoft YaHei"/>
              </a:rPr>
              <a:t>六步计算，每一步都能单独查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828800"/>
            <a:ext cx="1600200" cy="685800"/>
          </a:xfrm>
          <a:prstGeom prst="rect">
            <a:avLst/>
          </a:prstGeom>
          <a:solidFill>
            <a:srgbClr val="0B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93392"/>
            <a:ext cx="160020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YaHei"/>
              </a:rPr>
              <a:t>降雨</a:t>
            </a:r>
          </a:p>
        </p:txBody>
      </p:sp>
      <p:sp>
        <p:nvSpPr>
          <p:cNvPr id="6" name="Rectangle 5"/>
          <p:cNvSpPr/>
          <p:nvPr/>
        </p:nvSpPr>
        <p:spPr>
          <a:xfrm>
            <a:off x="2532888" y="1828800"/>
            <a:ext cx="1600200" cy="685800"/>
          </a:xfrm>
          <a:prstGeom prst="rect">
            <a:avLst/>
          </a:prstGeom>
          <a:solidFill>
            <a:srgbClr val="0B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32888" y="1993392"/>
            <a:ext cx="160020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YaHei"/>
              </a:rPr>
              <a:t>入渗</a:t>
            </a:r>
          </a:p>
        </p:txBody>
      </p:sp>
      <p:sp>
        <p:nvSpPr>
          <p:cNvPr id="8" name="Rectangle 7"/>
          <p:cNvSpPr/>
          <p:nvPr/>
        </p:nvSpPr>
        <p:spPr>
          <a:xfrm>
            <a:off x="4379976" y="1828800"/>
            <a:ext cx="1600200" cy="685800"/>
          </a:xfrm>
          <a:prstGeom prst="rect">
            <a:avLst/>
          </a:prstGeom>
          <a:solidFill>
            <a:srgbClr val="0B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79976" y="1993392"/>
            <a:ext cx="160020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YaHei"/>
              </a:rPr>
              <a:t>能量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7064" y="1828800"/>
            <a:ext cx="1600200" cy="685800"/>
          </a:xfrm>
          <a:prstGeom prst="rect">
            <a:avLst/>
          </a:prstGeom>
          <a:solidFill>
            <a:srgbClr val="0B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27064" y="1993392"/>
            <a:ext cx="160020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YaHei"/>
              </a:rPr>
              <a:t>坡面流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74152" y="1828800"/>
            <a:ext cx="1600200" cy="685800"/>
          </a:xfrm>
          <a:prstGeom prst="rect">
            <a:avLst/>
          </a:prstGeom>
          <a:solidFill>
            <a:srgbClr val="0B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74152" y="1993392"/>
            <a:ext cx="160020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YaHei"/>
              </a:rPr>
              <a:t>排水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921240" y="1828800"/>
            <a:ext cx="1600200" cy="685800"/>
          </a:xfrm>
          <a:prstGeom prst="rect">
            <a:avLst/>
          </a:prstGeom>
          <a:solidFill>
            <a:srgbClr val="0B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21240" y="1993392"/>
            <a:ext cx="160020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YaHei"/>
              </a:rPr>
              <a:t>汇流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834640"/>
            <a:ext cx="10607040" cy="31089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12B"/>
                </a:solidFill>
                <a:latin typeface="Microsoft YaHei"/>
              </a:rPr>
              <a:t>• 面雨量经分位数订正后分配到时间轴：标量定总量，逐时序列定形状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12B"/>
                </a:solidFill>
                <a:latin typeface="Microsoft YaHei"/>
              </a:rPr>
              <a:t>• Green-Ampt 由土壤饱和度驱动，城市硬化面折减系数显式参与指纹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12B"/>
                </a:solidFill>
                <a:latin typeface="Microsoft YaHei"/>
              </a:rPr>
              <a:t>• Ghil-Sellers 四项闭合（净辐射 / 感热 / 潜热 / 土壤热流）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12B"/>
                </a:solidFill>
                <a:latin typeface="Microsoft YaHei"/>
              </a:rPr>
              <a:t>• 图守恒律求解：逐边累加通量，水量只搬运、不凭空产生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12B"/>
                </a:solidFill>
                <a:latin typeface="Microsoft YaHei"/>
              </a:rPr>
              <a:t>• 堰式顶托：水深低于管顶不排水，顶托以上按水头开方过流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12B"/>
                </a:solidFill>
                <a:latin typeface="Microsoft YaHei"/>
              </a:rPr>
              <a:t>• D8 最陡下降：上游失去的水量完整计入受体格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55080"/>
            <a:ext cx="10789920" cy="3200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B78"/>
                </a:solidFill>
                <a:latin typeface="Microsoft YaHei"/>
              </a:rPr>
              <a:t>实测：守恒相对残差 5.56×10⁻⁹（容差 1×10⁻⁶）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6E8F"/>
                </a:solidFill>
                <a:latin typeface="Microsoft YaHei"/>
              </a:rPr>
              <a:t>可复算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4212B"/>
                </a:solidFill>
                <a:latin typeface="Microsoft YaHei"/>
              </a:rPr>
              <a:t>两枚指纹 + 一本水量账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512064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B78"/>
                </a:solidFill>
                <a:latin typeface="Microsoft YaHei"/>
              </a:rPr>
              <a:t>配置指纹 config_hash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12064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6E8F"/>
                </a:solidFill>
                <a:latin typeface="Microsoft YaHei"/>
              </a:rPr>
              <a:t>e464fea5962b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97480"/>
            <a:ext cx="512064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B78"/>
                </a:solidFill>
                <a:latin typeface="Microsoft YaHei"/>
              </a:rPr>
              <a:t>数据指纹 source_hash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512064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6E8F"/>
                </a:solidFill>
                <a:latin typeface="Microsoft YaHei"/>
              </a:rPr>
              <a:t>40d07eb29407b4b6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77639"/>
            <a:ext cx="5120640" cy="14630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B78"/>
                </a:solidFill>
                <a:latin typeface="Microsoft YaHei"/>
              </a:rPr>
              <a:t>四层参数（物理 / 场地 / 策略 / 数值）合成配置指纹；
数据与路径合成数据指纹。二者随每份产物落盘。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600200"/>
            <a:ext cx="48463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6B78"/>
                </a:solidFill>
                <a:latin typeface="Microsoft YaHei"/>
              </a:rPr>
              <a:t>每次推演的水量账（mm）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1965960"/>
          <a:ext cx="484632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1580"/>
                <a:gridCol w="1211580"/>
                <a:gridCol w="1211580"/>
                <a:gridCol w="1211580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降雨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下渗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排水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/>
                        <a:t>域内蓄水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259.1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5.49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220.6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/>
                        <a:t>16.64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0" y="3383280"/>
            <a:ext cx="4846320" cy="10972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4212B"/>
                </a:solidFill>
                <a:latin typeface="Microsoft YaHei"/>
              </a:rPr>
              <a:t>降雨 = 下渗 + 排水 + 边界出流 + 域内蓄水 + 截断
残差 5.56×10⁻⁹，超容差即停算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120640"/>
            <a:ext cx="10607040" cy="8229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212B"/>
                </a:solidFill>
                <a:latin typeface="Microsoft YaHei"/>
              </a:rPr>
              <a:t>换一台机器、换一个人，同一份配置与数据跑出同一组数。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6E8F"/>
                </a:solidFill>
                <a:latin typeface="Microsoft YaHei"/>
              </a:rPr>
              <a:t>交付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4212B"/>
                </a:solidFill>
                <a:latin typeface="Microsoft YaHei"/>
              </a:rPr>
              <a:t>一次推演，八份产物，三类读者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2560320" cy="640080"/>
          </a:xfrm>
          <a:prstGeom prst="rect">
            <a:avLst/>
          </a:prstGeom>
          <a:solidFill>
            <a:srgbClr val="F2F8F9"/>
          </a:solidFill>
          <a:ln>
            <a:solidFill>
              <a:srgbClr val="DD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01368"/>
            <a:ext cx="25603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4212B"/>
                </a:solidFill>
                <a:latin typeface="Microsoft YaHei"/>
              </a:rPr>
              <a:t>预置方案单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0" y="1645920"/>
            <a:ext cx="2560320" cy="640080"/>
          </a:xfrm>
          <a:prstGeom prst="rect">
            <a:avLst/>
          </a:prstGeom>
          <a:solidFill>
            <a:srgbClr val="F2F8F9"/>
          </a:solidFill>
          <a:ln>
            <a:solidFill>
              <a:srgbClr val="DD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0" y="1801368"/>
            <a:ext cx="25603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4212B"/>
                </a:solidFill>
                <a:latin typeface="Microsoft YaHei"/>
              </a:rPr>
              <a:t>恢复排序单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645920"/>
            <a:ext cx="2560320" cy="640080"/>
          </a:xfrm>
          <a:prstGeom prst="rect">
            <a:avLst/>
          </a:prstGeom>
          <a:solidFill>
            <a:srgbClr val="F2F8F9"/>
          </a:solidFill>
          <a:ln>
            <a:solidFill>
              <a:srgbClr val="DD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801368"/>
            <a:ext cx="25603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4212B"/>
                </a:solidFill>
                <a:latin typeface="Microsoft YaHei"/>
              </a:rPr>
              <a:t>事件对账单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52559" y="1645920"/>
            <a:ext cx="2560320" cy="640080"/>
          </a:xfrm>
          <a:prstGeom prst="rect">
            <a:avLst/>
          </a:prstGeom>
          <a:solidFill>
            <a:srgbClr val="F2F8F9"/>
          </a:solidFill>
          <a:ln>
            <a:solidFill>
              <a:srgbClr val="DD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59" y="1801368"/>
            <a:ext cx="25603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4212B"/>
                </a:solidFill>
                <a:latin typeface="Microsoft YaHei"/>
              </a:rPr>
              <a:t>韧性价目表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560320"/>
            <a:ext cx="2560320" cy="640080"/>
          </a:xfrm>
          <a:prstGeom prst="rect">
            <a:avLst/>
          </a:prstGeom>
          <a:solidFill>
            <a:srgbClr val="F2F8F9"/>
          </a:solidFill>
          <a:ln>
            <a:solidFill>
              <a:srgbClr val="DD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715768"/>
            <a:ext cx="25603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4212B"/>
                </a:solidFill>
                <a:latin typeface="Microsoft YaHei"/>
              </a:rPr>
              <a:t>体检指标包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0" y="2560320"/>
            <a:ext cx="2560320" cy="640080"/>
          </a:xfrm>
          <a:prstGeom prst="rect">
            <a:avLst/>
          </a:prstGeom>
          <a:solidFill>
            <a:srgbClr val="F2F8F9"/>
          </a:solidFill>
          <a:ln>
            <a:solidFill>
              <a:srgbClr val="DD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2715768"/>
            <a:ext cx="25603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4212B"/>
                </a:solidFill>
                <a:latin typeface="Microsoft YaHei"/>
              </a:rPr>
              <a:t>标准体检报告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2560320"/>
            <a:ext cx="2560320" cy="640080"/>
          </a:xfrm>
          <a:prstGeom prst="rect">
            <a:avLst/>
          </a:prstGeom>
          <a:solidFill>
            <a:srgbClr val="F2F8F9"/>
          </a:solidFill>
          <a:ln>
            <a:solidFill>
              <a:srgbClr val="DD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2715768"/>
            <a:ext cx="25603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4212B"/>
                </a:solidFill>
                <a:latin typeface="Microsoft YaHei"/>
              </a:rPr>
              <a:t>多事件标定单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52559" y="2560320"/>
            <a:ext cx="2560320" cy="640080"/>
          </a:xfrm>
          <a:prstGeom prst="rect">
            <a:avLst/>
          </a:prstGeom>
          <a:solidFill>
            <a:srgbClr val="F2F8F9"/>
          </a:solidFill>
          <a:ln>
            <a:solidFill>
              <a:srgbClr val="DD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59" y="2715768"/>
            <a:ext cx="25603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4212B"/>
                </a:solidFill>
                <a:latin typeface="Microsoft YaHei"/>
              </a:rPr>
              <a:t>涝点转译卡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840480"/>
            <a:ext cx="128016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6E8F"/>
                </a:solidFill>
                <a:latin typeface="Microsoft YaHei"/>
              </a:rPr>
              <a:t>值班室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3840480"/>
            <a:ext cx="932688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4212B"/>
                </a:solidFill>
                <a:latin typeface="Microsoft YaHei"/>
              </a:rPr>
              <a:t>28 张涝点卡：实测、推演、能否采信、处置建议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572000"/>
            <a:ext cx="128016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6E8F"/>
                </a:solidFill>
                <a:latin typeface="Microsoft YaHei"/>
              </a:rPr>
              <a:t>规划岗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4572000"/>
            <a:ext cx="932688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4212B"/>
                </a:solidFill>
                <a:latin typeface="Microsoft YaHei"/>
              </a:rPr>
              <a:t>决策卡：五类分型 + 翻档雨量阈值 + 建议手段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303520"/>
            <a:ext cx="128016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6E8F"/>
                </a:solidFill>
                <a:latin typeface="Microsoft YaHei"/>
              </a:rPr>
              <a:t>市民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5303520"/>
            <a:ext cx="932688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4212B"/>
                </a:solidFill>
                <a:latin typeface="Microsoft YaHei"/>
              </a:rPr>
              <a:t>避险页：只说哪条路别走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355080"/>
            <a:ext cx="10789920" cy="3200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B78"/>
                </a:solidFill>
                <a:latin typeface="Microsoft YaHei"/>
              </a:rPr>
              <a:t>三类产品同源：同一组数字、同一组指纹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6E8F"/>
                </a:solidFill>
                <a:latin typeface="Microsoft YaHei"/>
              </a:rPr>
              <a:t>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4212B"/>
                </a:solidFill>
                <a:latin typeface="Microsoft YaHei"/>
              </a:rPr>
              <a:t>2021 年台风“烟花”· 宁波鄞东南片区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256032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6E8F"/>
                </a:solidFill>
                <a:latin typeface="Microsoft YaHei"/>
              </a:rPr>
              <a:t>259.1 mm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377440"/>
            <a:ext cx="25603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B6B78"/>
                </a:solidFill>
                <a:latin typeface="Microsoft YaHei"/>
              </a:rPr>
              <a:t>面雨量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691640"/>
            <a:ext cx="256032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6E8F"/>
                </a:solidFill>
                <a:latin typeface="Microsoft YaHei"/>
              </a:rPr>
              <a:t>0.493 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2377440"/>
            <a:ext cx="25603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B6B78"/>
                </a:solidFill>
                <a:latin typeface="Microsoft YaHei"/>
              </a:rPr>
              <a:t>峰值水深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691640"/>
            <a:ext cx="256032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6E8F"/>
                </a:solidFill>
                <a:latin typeface="Microsoft YaHei"/>
              </a:rPr>
              <a:t>12 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377440"/>
            <a:ext cx="25603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B6B78"/>
                </a:solidFill>
                <a:latin typeface="Microsoft YaHei"/>
              </a:rPr>
              <a:t>建议提前布点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59" y="1691640"/>
            <a:ext cx="256032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6E8F"/>
                </a:solidFill>
                <a:latin typeface="Microsoft YaHei"/>
              </a:rPr>
              <a:t>258 mm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59" y="2377440"/>
            <a:ext cx="25603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B6B78"/>
                </a:solidFill>
                <a:latin typeface="Microsoft YaHei"/>
              </a:rPr>
              <a:t>启动三级响应的雨量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731520" y="3017520"/>
          <a:ext cx="6035040" cy="2926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132320" y="3017520"/>
            <a:ext cx="4389120" cy="2743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4212B"/>
                </a:solidFill>
                <a:latin typeface="Microsoft YaHei"/>
              </a:rPr>
              <a:t>12 处点位、触发雨量 258 毫米、三级响应，
这些可以直接写进值班表。
左图是积水分级：八成格点不积水。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55080"/>
            <a:ext cx="10789920" cy="3200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B78"/>
                </a:solidFill>
                <a:latin typeface="Microsoft YaHei"/>
              </a:rPr>
              <a:t>守恒残差 5.56×10⁻⁹ ｜ config_hash e464fea5962b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6E8F"/>
                </a:solidFill>
                <a:latin typeface="Microsoft YaHei"/>
              </a:rPr>
              <a:t>标定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4212B"/>
                </a:solidFill>
                <a:latin typeface="Microsoft YaHei"/>
              </a:rPr>
              <a:t>18 场台风、36 年，雨量和损失的关系稳定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512064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B6B78"/>
                </a:solidFill>
                <a:latin typeface="Microsoft YaHei"/>
              </a:rPr>
              <a:t>面雨量翻倍 → 功能损失约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5120640" cy="9144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F5B942"/>
                </a:solidFill>
                <a:latin typeface="Microsoft YaHei"/>
              </a:rPr>
              <a:t>4.3 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5120640" cy="12801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4212B"/>
                </a:solidFill>
                <a:latin typeface="Microsoft YaHei"/>
              </a:rPr>
              <a:t>幂律斜率 2.12，R² = 0.88
秩相关 ρ = 0.9945（13 场可比）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783080"/>
          <a:ext cx="47548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377440"/>
              </a:tblGrid>
              <a:tr h="548640">
                <a:tc>
                  <a:txBody>
                    <a:bodyPr/>
                    <a:lstStyle/>
                    <a:p>
                      <a:r>
                        <a:rPr sz="1300" b="1"/>
                        <a:t>样本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1990–2025，18 场，36 年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/>
                        <a:t>实算成功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16 场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/>
                        <a:t>致涝场次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14 场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1"/>
                        <a:t>年均事件率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/>
                        <a:t>0.389 场/年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846320"/>
            <a:ext cx="10607040" cy="9144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4212B"/>
                </a:solidFill>
                <a:latin typeface="Microsoft YaHei"/>
              </a:rPr>
              <a:t>烟花在 18 场里排第 2。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6E8F"/>
                </a:solidFill>
                <a:latin typeface="Microsoft YaHei"/>
              </a:rPr>
              <a:t>抢修排序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4212B"/>
                </a:solidFill>
                <a:latin typeface="Microsoft YaHei"/>
              </a:rPr>
              <a:t>同样的队伍，按它排多恢复 27.8% 的功能面积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475488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B6B78"/>
                </a:solidFill>
                <a:latin typeface="Microsoft YaHei"/>
              </a:rPr>
              <a:t>相对双基线的提升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4754880" cy="10058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0B6E8F"/>
                </a:solidFill>
                <a:latin typeface="Microsoft YaHei"/>
              </a:rPr>
              <a:t>+27.8%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6160"/>
            <a:ext cx="4937760" cy="21945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12B"/>
                </a:solidFill>
                <a:latin typeface="Microsoft YaHei"/>
              </a:rPr>
              <a:t>• 与随机排序、按度排序同时比较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12B"/>
                </a:solidFill>
                <a:latin typeface="Microsoft YaHei"/>
              </a:rPr>
              <a:t>• 评分窗口 72 小时，与事件窗对齐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12B"/>
                </a:solidFill>
                <a:latin typeface="Microsoft YaHei"/>
              </a:rPr>
              <a:t>• 排名受窗口影响，数字要带窗口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309360" y="1783080"/>
          <a:ext cx="51206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7240" y="5577840"/>
            <a:ext cx="1051560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4212B"/>
                </a:solidFill>
                <a:latin typeface="Microsoft YaHei"/>
              </a:rPr>
              <a:t>排序不是拍脑袋：每条结论都附评分口径，缺口径即拒答。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6E8F"/>
                </a:solidFill>
                <a:latin typeface="Microsoft YaHei"/>
              </a:rPr>
              <a:t>泛化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4212B"/>
                </a:solidFill>
                <a:latin typeface="Microsoft YaHei"/>
              </a:rPr>
              <a:t>控制峰值的是雨强，不是总量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0704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B6B78"/>
                </a:solidFill>
                <a:latin typeface="Microsoft YaHei"/>
              </a:rPr>
              <a:t>5 城市 × 3 场台风，参数不逐城重标，15 个组合全部跑通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103120"/>
          <a:ext cx="67665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691640"/>
                <a:gridCol w="1691640"/>
                <a:gridCol w="1691640"/>
              </a:tblGrid>
              <a:tr h="502920">
                <a:tc>
                  <a:txBody>
                    <a:bodyPr/>
                    <a:lstStyle/>
                    <a:p>
                      <a:r>
                        <a:rPr sz="1200" b="1"/>
                        <a:t>场次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面雨量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最大小时雨强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峰值水深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/>
                        <a:t>AMPIL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283.6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11.35 mm/h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0.612 m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/>
                        <a:t>IN-FA 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638.1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7.56 mm/h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0.508 m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/>
                        <a:t>DANAS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232.2 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4.24 mm/h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0.387 m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863840" y="2103120"/>
            <a:ext cx="3749039" cy="23774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6E8F"/>
                </a:solidFill>
                <a:latin typeface="Microsoft YaHei"/>
              </a:rPr>
              <a:t>与面雨量同序：0/5
与最大小时雨强同序：5/5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480560"/>
            <a:ext cx="10607040" cy="12801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4212B"/>
                </a:solidFill>
                <a:latin typeface="Microsoft YaHei"/>
              </a:rPr>
              <a:t>IN-FA 面雨量是 AMPIL 的 2.25 倍，峰值更低，因为雨摊在更长时间里。
下一步接亚小时雨强，比接更多年总量更有用。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78992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6E8F"/>
                </a:solidFill>
                <a:latin typeface="Microsoft YaHei"/>
              </a:rPr>
              <a:t>形态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6400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4212B"/>
                </a:solidFill>
                <a:latin typeface="Microsoft YaHei"/>
              </a:rPr>
              <a:t>三种用法，一套数据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384048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B6E8F"/>
                </a:solidFill>
                <a:latin typeface="Microsoft YaHei"/>
              </a:rPr>
              <a:t>DSH 插件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3931920" cy="7315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B6B78"/>
                </a:solidFill>
                <a:latin typeface="Microsoft YaHei"/>
              </a:rPr>
              <a:t>9 个只读工具，护栏在工具层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017520"/>
            <a:ext cx="384048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B6E8F"/>
                </a:solidFill>
                <a:latin typeface="Microsoft YaHei"/>
              </a:rPr>
              <a:t>本地值班台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474720"/>
            <a:ext cx="3931920" cy="7315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B6B78"/>
                </a:solidFill>
                <a:latin typeface="Microsoft YaHei"/>
              </a:rPr>
              <a:t>三个数字 + 常见问题按钮 + 八份产物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343400"/>
            <a:ext cx="384048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B6E8F"/>
                </a:solidFill>
                <a:latin typeface="Microsoft YaHei"/>
              </a:rPr>
              <a:t>离线验收包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800600"/>
            <a:ext cx="3931920" cy="73152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B6B78"/>
                </a:solidFill>
                <a:latin typeface="Microsoft YaHei"/>
              </a:rPr>
              <a:t>源码 + 数据 + 产物 + 一键验收</a:t>
            </a:r>
          </a:p>
        </p:txBody>
      </p:sp>
      <p:pic>
        <p:nvPicPr>
          <p:cNvPr id="10" name="Picture 9" descr="webapp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645920"/>
            <a:ext cx="5943600" cy="4148138"/>
          </a:xfrm>
          <a:prstGeom prst="rect">
            <a:avLst/>
          </a:prstGeom>
          <a:effectLst/>
        </p:spPr>
      </p:pic>
      <p:sp>
        <p:nvSpPr>
          <p:cNvPr id="11" name="Rectangle 10"/>
          <p:cNvSpPr/>
          <p:nvPr/>
        </p:nvSpPr>
        <p:spPr>
          <a:xfrm>
            <a:off x="5394960" y="1645920"/>
            <a:ext cx="5943600" cy="4148138"/>
          </a:xfrm>
          <a:prstGeom prst="rect">
            <a:avLst/>
          </a:prstGeom>
          <a:noFill/>
          <a:ln>
            <a:solidFill>
              <a:srgbClr val="DD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0" y="5806440"/>
            <a:ext cx="5943600" cy="36576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B6B78"/>
                </a:solidFill>
                <a:latin typeface="Microsoft YaHei"/>
              </a:rPr>
              <a:t>值班台首屏：三个数字、五个问题按钮、审计折叠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55080"/>
            <a:ext cx="10789920" cy="32004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6B78"/>
                </a:solidFill>
                <a:latin typeface="Microsoft YaHei"/>
              </a:rPr>
              <a:t>换机器复算，指纹一致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5B942"/>
                </a:solidFill>
                <a:latin typeface="Microsoft YaHei"/>
              </a:rPr>
              <a:t>一句话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20116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今天就能用：排出 12 个点、
定下 258 毫米的启动线、
排好抢修顺序。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80560"/>
            <a:ext cx="10515600" cy="109728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9CFD6"/>
                </a:solidFill>
                <a:latin typeface="Microsoft YaHei"/>
              </a:rPr>
              <a:t>18 场台风 / 36 年 / 全链 70 秒 / 9 个只读工具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577840"/>
            <a:ext cx="10515600" cy="457200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9CFD6"/>
                </a:solidFill>
                <a:latin typeface="Microsoft YaHei"/>
              </a:rPr>
              <a:t>github.com/toki0413/typhoeus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