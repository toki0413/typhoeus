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格点占比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绿 &lt;0.1m</c:v>
                </c:pt>
                <c:pt idx="1">
                  <c:v>黄 0.1–0.2m</c:v>
                </c:pt>
                <c:pt idx="2">
                  <c:v>橙 0.2–0.5m</c:v>
                </c:pt>
                <c:pt idx="3">
                  <c:v>红 ≥0.5m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84.2</c:v>
                </c:pt>
                <c:pt idx="1">
                  <c:v>13.0</c:v>
                </c:pt>
                <c:pt idx="2">
                  <c:v>2.7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功能面积（相对）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随机</c:v>
                </c:pt>
                <c:pt idx="1">
                  <c:v>按度</c:v>
                </c:pt>
                <c:pt idx="2">
                  <c:v>次模贪心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113</c:v>
                </c:pt>
                <c:pt idx="2">
                  <c:v>128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命中率 %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默认（填洼）</c:v>
                </c:pt>
                <c:pt idx="1">
                  <c:v>统一下挖</c:v>
                </c:pt>
                <c:pt idx="2">
                  <c:v>按结构类型</c:v>
                </c:pt>
                <c:pt idx="3">
                  <c:v>+ DEM 汇水</c:v>
                </c:pt>
                <c:pt idx="4">
                  <c:v>+ 小区加深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17.6</c:v>
                </c:pt>
                <c:pt idx="2">
                  <c:v>41.2</c:v>
                </c:pt>
                <c:pt idx="3">
                  <c:v>47.1</c:v>
                </c:pt>
                <c:pt idx="4">
                  <c:v>64.7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开场：每场台风过后，城市要回答三个问题——哪些点必须动、该用什么手段、要做到什么程度。我们用一条可复算的决策链来回答，而不是再做一个更花哨的模型。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先讲矛盾：专业模型要几个月，决策只有几小时。这不是算得快一点能解决的，因为如果快了但算出来的东西没人能核对，它进不了问责链条。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四步：推演、编译、判据、交付。注意第三步不是装饰——判据决定了这份东西能不能被验收。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四层。最关键的一条边界：服务层只能读落盘产物。所以智能助手看到的数字，和验收方核对的数字，是同一批文件。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六段链路。每一段都有明确的物理假设和可调参数，没有黑箱。这也是为什么数字能被追问到具体环节。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可复算不是口号：两枚指纹 + 一本水量账。残差 5.56e-9，超了就直接停算，不输出降级结果。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八份产物不是终点，按岗位重组成三类产品才是。值班员要句子，规划岗要阈值，市民要一句话。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烟花这场：面雨量 259 mm，峰值 0.493 m 出现在第 42.7 小时。注意分布——八成格点是绿的，风险集中在少数点，所以交付要逐点。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跨事件标定：18 场、36 年，斜率 2.12。雨量翻倍损失约 4.3 倍。这条关系比任何单场结论都稳——烟花只是第 2 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抢修排序：次模贪心比随机和按度都好 27.8%。门槛不只看排名，还看口径是否说清。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泛化实验：5 城 3 场。结论很硬——峰值跟雨强同序 5/5，跟总量同序 0/5。所以下一阶段要接的是雷达/分钟级雨量，不是更多年总量。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这一页是全场最重要的：默认链路命中率 0%，因为填洼把下穿立交抹平了。实验层做到 64.7%，但增益集中在单点、且是样本内——这两句要一起说。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右边是值班台真实首屏：三个数字、五个问题按钮，审计信息折叠在最后。三种形态：插件、值班台、离线验收包，共用同一套产物和护栏。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收束：我们不承诺逐点水深，交付的是分级、阈值、排序，以及每个数字的出处。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B942"/>
                </a:solidFill>
                <a:latin typeface="Microsoft YaHei"/>
              </a:rPr>
              <a:t>TYPHOEUS · 提比翁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3716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icrosoft YaHei"/>
              </a:rPr>
              <a:t>一场雨之后，
该修哪里、花多少钱、什么时候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8229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9CFD6"/>
                </a:solidFill>
                <a:latin typeface="Microsoft YaHei"/>
              </a:rPr>
              <a:t>台风暴雨城市内涝 · 快速推演与涝点决策支持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CFD6"/>
                </a:solidFill>
                <a:latin typeface="Microsoft YaHei"/>
              </a:rPr>
              <a:t>内核 0.6.1 ｜ 27 条判据 ｜ 9 个只读工具 ｜ 全链约 70 秒 · 纯 CPU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评估周期与决策窗口，差了两个数量级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828800"/>
            <a:ext cx="3383280" cy="210312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292608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3–6 个月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292608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传统水力模型单片区：资料整编 → 率定 → 出图 → 评审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828800"/>
            <a:ext cx="3383280" cy="210312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057400"/>
            <a:ext cx="292608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数小时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880360"/>
            <a:ext cx="292608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台风自登陆到积水峰值：布点、封道、泵车必须在这段时间内定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828800"/>
            <a:ext cx="3383280" cy="210312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057400"/>
            <a:ext cx="292608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0 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880360"/>
            <a:ext cx="292608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可被第三方逐位复算的交付物——图纸与报告对不上参数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10789920" cy="12801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212B"/>
                </a:solidFill>
                <a:latin typeface="Microsoft YaHei"/>
              </a:rPr>
              <a:t>结果：雨已经在下了，结论还没成型；等结论出来，抢修的最佳次序已经过去。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数据来源：项目内 18 场台风回放与宁波鄞东南片区实测台账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一条可复算的决策链，四步走完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1874519"/>
            <a:ext cx="384048" cy="384048"/>
          </a:xfrm>
          <a:prstGeom prst="ellipse">
            <a:avLst/>
          </a:prstGeom>
          <a:solidFill>
            <a:srgbClr val="0B6E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783080"/>
            <a:ext cx="1463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212B"/>
                </a:solidFill>
                <a:latin typeface="Microsoft YaHei"/>
              </a:rPr>
              <a:t>① 推演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828800"/>
            <a:ext cx="850392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确定性内核把降雨解成水深场，逐笔核对水量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926079"/>
            <a:ext cx="384048" cy="384048"/>
          </a:xfrm>
          <a:prstGeom prst="ellipse">
            <a:avLst/>
          </a:prstGeom>
          <a:solidFill>
            <a:srgbClr val="0B6E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834639"/>
            <a:ext cx="1463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212B"/>
                </a:solidFill>
                <a:latin typeface="Microsoft YaHei"/>
              </a:rPr>
              <a:t>② 编译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80359"/>
            <a:ext cx="850392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一次推演编译八份结构化产物，跨产物逐对校验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977639"/>
            <a:ext cx="384048" cy="384048"/>
          </a:xfrm>
          <a:prstGeom prst="ellipse">
            <a:avLst/>
          </a:prstGeom>
          <a:solidFill>
            <a:srgbClr val="0B6E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886200"/>
            <a:ext cx="1463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212B"/>
                </a:solidFill>
                <a:latin typeface="Microsoft YaHei"/>
              </a:rPr>
              <a:t>③ 判据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931920"/>
            <a:ext cx="850392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27 条独立判据，逐条给判定、实测值与根因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5029199"/>
            <a:ext cx="384048" cy="384048"/>
          </a:xfrm>
          <a:prstGeom prst="ellipse">
            <a:avLst/>
          </a:prstGeom>
          <a:solidFill>
            <a:srgbClr val="0B6E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937759"/>
            <a:ext cx="1463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212B"/>
                </a:solidFill>
                <a:latin typeface="Microsoft YaHei"/>
              </a:rPr>
              <a:t>④ 交付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983479"/>
            <a:ext cx="850392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按岗位重组为涝点卡、决策卡、避险页三类产品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0644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6E8F"/>
                </a:solidFill>
                <a:latin typeface="Microsoft YaHei"/>
              </a:rPr>
              <a:t>每个数字都带两枚指纹：配置 config_hash、数据 source_hash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四层结构，层间只通过落盘产物通信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00200"/>
            <a:ext cx="1828800" cy="868680"/>
          </a:xfrm>
          <a:prstGeom prst="rect">
            <a:avLst/>
          </a:prstGeom>
          <a:solidFill>
            <a:srgbClr val="0B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01368"/>
            <a:ext cx="164592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计算层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709928"/>
            <a:ext cx="694944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212B"/>
                </a:solidFill>
                <a:latin typeface="Microsoft YaHei"/>
              </a:rPr>
              <a:t>守恒律坡面流 · Green-Ampt 入渗 · Ghil-Sellers 能量 · 堰式排水 · D8 汇流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1874519"/>
            <a:ext cx="17373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纯 CPU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743200"/>
            <a:ext cx="1828800" cy="868680"/>
          </a:xfrm>
          <a:prstGeom prst="rect">
            <a:avLst/>
          </a:prstGeom>
          <a:solidFill>
            <a:srgbClr val="0B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44368"/>
            <a:ext cx="164592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编译层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852928"/>
            <a:ext cx="694944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212B"/>
                </a:solidFill>
                <a:latin typeface="Microsoft YaHei"/>
              </a:rPr>
              <a:t>八份产物：方案 / 排序 / 对账 / 定价 / 指标 / 报告 / 标定 / 涝点卡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3017520"/>
            <a:ext cx="17373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JSON + 页面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886200"/>
            <a:ext cx="1828800" cy="86868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87368"/>
            <a:ext cx="164592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服务层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995928"/>
            <a:ext cx="694944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212B"/>
                </a:solidFill>
                <a:latin typeface="Microsoft YaHei"/>
              </a:rPr>
              <a:t>9 个只读工具 + 4 条护栏：越域拒答、弱基线不出排序、单口径不返数字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4160520"/>
            <a:ext cx="17373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MCP / 值班台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029200"/>
            <a:ext cx="1828800" cy="86868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230368"/>
            <a:ext cx="164592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界面层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5138928"/>
            <a:ext cx="694944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212B"/>
                </a:solidFill>
                <a:latin typeface="Microsoft YaHei"/>
              </a:rPr>
              <a:t>值班台、驾驶舱、涝点卡页、市民避险页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5303520"/>
            <a:ext cx="17373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浏览器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服务层只能读已落盘、带指纹的产物；不重算内核、不改参数、不写文件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内核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六段链路，每一段都能单独回答“为什么”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降雨</a:t>
            </a:r>
          </a:p>
        </p:txBody>
      </p:sp>
      <p:sp>
        <p:nvSpPr>
          <p:cNvPr id="6" name="Rectangle 5"/>
          <p:cNvSpPr/>
          <p:nvPr/>
        </p:nvSpPr>
        <p:spPr>
          <a:xfrm>
            <a:off x="2532888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入渗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9976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79976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能量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27064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坡面流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2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排水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21240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21240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汇流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834640"/>
            <a:ext cx="10607040" cy="31089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面雨量经分位数订正后分配到时间轴：标量定总量，逐时序列定形状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Green-Ampt 由土壤饱和度驱动，城市硬化面折减系数显式参与指纹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Ghil-Sellers 四项闭合（净辐射 / 感热 / 潜热 / 土壤热流）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图守恒律求解：逐边累加通量，水量只搬运、不凭空产生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堰式顶托：水深低于管顶不排水，顶托以上按水头开方过流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D8 最陡下降：上游失去的水量完整计入受体格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实测：守恒相对残差 5.56×10⁻⁹（容差 1×10⁻⁶）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可复算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两枚指纹 + 一本水量账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512064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B78"/>
                </a:solidFill>
                <a:latin typeface="Microsoft YaHei"/>
              </a:rPr>
              <a:t>配置指纹 config_hash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12064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6E8F"/>
                </a:solidFill>
                <a:latin typeface="Microsoft YaHei"/>
              </a:rPr>
              <a:t>e464fea5962b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512064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B78"/>
                </a:solidFill>
                <a:latin typeface="Microsoft YaHei"/>
              </a:rPr>
              <a:t>数据指纹 source_hash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512064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6E8F"/>
                </a:solidFill>
                <a:latin typeface="Microsoft YaHei"/>
              </a:rPr>
              <a:t>40d07eb29407b4b6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77639"/>
            <a:ext cx="5120640" cy="1463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B78"/>
                </a:solidFill>
                <a:latin typeface="Microsoft YaHei"/>
              </a:rPr>
              <a:t>四层参数（物理 / 场地 / 策略 / 数值）合成配置指纹；
数据与路径合成数据指纹。二者随每份产物落盘。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B78"/>
                </a:solidFill>
                <a:latin typeface="Microsoft YaHei"/>
              </a:rPr>
              <a:t>每次推演的水量账（mm）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965960"/>
          <a:ext cx="48463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1580"/>
                <a:gridCol w="1211580"/>
                <a:gridCol w="1211580"/>
                <a:gridCol w="121158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降雨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下渗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排水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域内蓄水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259.1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5.49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220.6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16.64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3383280"/>
            <a:ext cx="4846320" cy="10972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212B"/>
                </a:solidFill>
                <a:latin typeface="Microsoft YaHei"/>
              </a:rPr>
              <a:t>降雨 = 下渗 + 排水 + 边界出流 + 域内蓄水 + 截断
残差 5.56×10⁻⁹，超容差即停算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20640"/>
            <a:ext cx="10607040" cy="8229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212B"/>
                </a:solidFill>
                <a:latin typeface="Microsoft YaHei"/>
              </a:rPr>
              <a:t>换一台机器、换一个人，同一份配置与数据能跑出同一组数——这是它能进验收的前提。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一次推演，八份产物，三类读者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013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预置方案单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6459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8013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恢复排序单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459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013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事件对账单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59" y="16459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59" y="18013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韧性价目表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603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157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体检指标包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25603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27157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标准体检报告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5603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27157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多事件标定单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59" y="25603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59" y="27157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涝点转译卡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12801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6E8F"/>
                </a:solidFill>
                <a:latin typeface="Microsoft YaHei"/>
              </a:rPr>
              <a:t>值班室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840480"/>
            <a:ext cx="93268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28 张涝点卡：实测、推演、能否采信、处置建议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572000"/>
            <a:ext cx="12801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6E8F"/>
                </a:solidFill>
                <a:latin typeface="Microsoft YaHei"/>
              </a:rPr>
              <a:t>规划岗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572000"/>
            <a:ext cx="93268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决策卡：五类分型 + 翻档雨量阈值 + 建议手段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303520"/>
            <a:ext cx="12801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6E8F"/>
                </a:solidFill>
                <a:latin typeface="Microsoft YaHei"/>
              </a:rPr>
              <a:t>市民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303520"/>
            <a:ext cx="93268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避险页：只说哪条路别走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三类产品同源：同一组数字、同一组指纹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2021 年台风“烟花”· 宁波鄞东南片区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25603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259.1 mm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77440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面雨量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691640"/>
            <a:ext cx="25603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0.493 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377440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峰值水深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25603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42.7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377440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峰值时刻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59" y="1691640"/>
            <a:ext cx="25603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84.2%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59" y="2377440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绿色格点占比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731520" y="3017520"/>
          <a:ext cx="603504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132320" y="3017520"/>
            <a:ext cx="4389120" cy="2743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最大积水出现在下穿立交与低洼路段；
绿色占八成说明大部分格点不积水，
风险集中在少数点位——这正是涝点卡要逐点给的原因。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守恒残差 5.56×10⁻⁹ ｜ config_hash e464fea5962b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标定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18 场台风、36 年，强度—损失关系稳定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1206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面雨量翻倍 → 功能损失约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512064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5B942"/>
                </a:solidFill>
                <a:latin typeface="Microsoft YaHei"/>
              </a:rPr>
              <a:t>4.3 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5120640" cy="12801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212B"/>
                </a:solidFill>
                <a:latin typeface="Microsoft YaHei"/>
              </a:rPr>
              <a:t>幂律斜率 2.12，R² = 0.88
秩相关 ρ = 0.9945（13 场可比）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783080"/>
          <a:ext cx="47548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样本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1990–2025，18 场，36 年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实算成功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16 场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致涝场次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14 场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年均事件率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0.389 场/年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846320"/>
            <a:ext cx="1060704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4212B"/>
                </a:solidFill>
                <a:latin typeface="Microsoft YaHei"/>
              </a:rPr>
              <a:t>单场叙事会误导适用范围：烟花只是 18 场里的第 2 大。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抢修排序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次模贪心，72 小时窗口，双基线同时胜过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47548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相对双基线的提升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4754880" cy="10058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B6E8F"/>
                </a:solidFill>
                <a:latin typeface="Microsoft YaHei"/>
              </a:rPr>
              <a:t>+27.8%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4937760" cy="21945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与随机排序、按度排序同时比较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评分窗口 72 小时，与事件窗对齐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排名对窗口敏感，所以结论必须带口径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309360" y="1783080"/>
          <a:ext cx="51206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557784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排序不是拍脑袋：每条结论都附评分口径，缺口径即拒答。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泛化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控制峰值的是雨强，不是总量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07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B78"/>
                </a:solidFill>
                <a:latin typeface="Microsoft YaHei"/>
              </a:rPr>
              <a:t>5 城市 × 3 场台风，参数不逐城重标，15 个组合全部跑通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103120"/>
          <a:ext cx="6766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691640"/>
                <a:gridCol w="1691640"/>
                <a:gridCol w="169164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/>
                        <a:t>场次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面雨量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最大小时雨强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峰值水深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/>
                        <a:t>AMPIL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283.6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11.35 mm/h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0.612 m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/>
                        <a:t>IN-FA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638.1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7.56 mm/h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0.508 m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/>
                        <a:t>DANAS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232.2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4.24 mm/h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0.387 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63840" y="2103120"/>
            <a:ext cx="3749039" cy="23774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6E8F"/>
                </a:solidFill>
                <a:latin typeface="Microsoft YaHei"/>
              </a:rPr>
              <a:t>与面雨量同序：0/5
与最大小时雨强同序：5/5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80560"/>
            <a:ext cx="10607040" cy="12801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212B"/>
                </a:solidFill>
                <a:latin typeface="Microsoft YaHei"/>
              </a:rPr>
              <a:t>IN-FA 面雨量是 AMPIL 的 2.25 倍，峰值反而更低——雨摊在更长时间里。
这决定了：接亚小时雨强，比接更多总量数据更有价值。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诚实的边界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填洼预处理如何抹掉下穿立交的积水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07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B78"/>
                </a:solidFill>
                <a:latin typeface="Microsoft YaHei"/>
              </a:rPr>
              <a:t>17 个域内实测点的分级命中率（同积水分级即命中）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2011680"/>
          <a:ext cx="676656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2011680"/>
            <a:ext cx="3840480" cy="31089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212B"/>
                </a:solidFill>
                <a:latin typeface="Microsoft YaHei"/>
              </a:rPr>
              <a:t>默认链路：0.0%
实验层：64.7%
增益集中于单点，
且属样本内结果。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257800"/>
            <a:ext cx="1060704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4212B"/>
                </a:solidFill>
                <a:latin typeface="Microsoft YaHei"/>
              </a:rPr>
              <a:t>把失败写在前面：填洼抹平了亚像元凹陷，这不是参数问题，是结构问题。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三种入口，同一套产物与护栏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38404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6E8F"/>
                </a:solidFill>
                <a:latin typeface="Microsoft YaHei"/>
              </a:rPr>
              <a:t>DSH 插件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393192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9 个只读工具，护栏在工具层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17520"/>
            <a:ext cx="38404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6E8F"/>
                </a:solidFill>
                <a:latin typeface="Microsoft YaHei"/>
              </a:rPr>
              <a:t>本地值班台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74720"/>
            <a:ext cx="393192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三个数字 + 常见问题按钮 + 八份产物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38404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6E8F"/>
                </a:solidFill>
                <a:latin typeface="Microsoft YaHei"/>
              </a:rPr>
              <a:t>离线验收包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00600"/>
            <a:ext cx="393192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源码 + 数据 + 产物 + 一键验收</a:t>
            </a:r>
          </a:p>
        </p:txBody>
      </p:sp>
      <p:pic>
        <p:nvPicPr>
          <p:cNvPr id="10" name="Picture 9" descr="webapp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645920"/>
            <a:ext cx="5943600" cy="4148138"/>
          </a:xfrm>
          <a:prstGeom prst="rect">
            <a:avLst/>
          </a:prstGeom>
          <a:effectLst/>
        </p:spPr>
      </p:pic>
      <p:sp>
        <p:nvSpPr>
          <p:cNvPr id="11" name="Rectangle 10"/>
          <p:cNvSpPr/>
          <p:nvPr/>
        </p:nvSpPr>
        <p:spPr>
          <a:xfrm>
            <a:off x="5394960" y="1645920"/>
            <a:ext cx="5943600" cy="4148138"/>
          </a:xfrm>
          <a:prstGeom prst="rect">
            <a:avLst/>
          </a:prstGeom>
          <a:noFill/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5806440"/>
            <a:ext cx="59436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B78"/>
                </a:solidFill>
                <a:latin typeface="Microsoft YaHei"/>
              </a:rPr>
              <a:t>值班台首屏：三个数字、五个问题按钮、审计折叠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27 条判据：15 通过 / 5 不达标 / 7 缺外部数据；换机器复算指纹一致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B942"/>
                </a:solidFill>
                <a:latin typeface="Microsoft YaHe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它面对的是台风暴雨下的复合气候风险；
智能模型要做的，是在资料不全时
快速完成分级、核算与排序。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9CFD6"/>
                </a:solidFill>
                <a:latin typeface="Microsoft YaHei"/>
              </a:rPr>
              <a:t>18 场 · 36 年 ｜ 27 条判据 ｜ 9 个只读工具 ｜ 全链约 70 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CFD6"/>
                </a:solidFill>
                <a:latin typeface="Microsoft YaHei"/>
              </a:rPr>
              <a:t>github.com/toki0413/typhoeus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