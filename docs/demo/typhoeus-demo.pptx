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开场：台风过后，城市要回答三个问题，布在哪、什么时候启动、花多少钱。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三个问题必须当天回答，等报告来不及。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四步：推演、编译、判据、交付。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四层结构，服务层只读文件。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六步计算，每一步都能追。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两枚指纹和一本水量账。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八份产物，三类读者。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案例数字：259.1 毫米，0.493 米，12 处布点，258 毫米启动。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场 36 年，雨量翻倍损失约 4.3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排序比随机、按度都好 27.8%。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泛化：强度控制峰值，不是总量。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三种用法，一套数据。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收束：布点、启动线、抢修顺序。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440000">
            <a:off x="7498079" y="-1280160"/>
            <a:ext cx="2011680" cy="105156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440000">
            <a:off x="9052560" y="-914400"/>
            <a:ext cx="457200" cy="9144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188720"/>
            <a:ext cx="822960" cy="822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96012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一场雨之后，</a:t>
            </a:r>
          </a:p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该修哪里，花多少钱，什么时候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7492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台风暴雨城市内涝推演与值班工具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8932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C8880"/>
                </a:solidFill>
                <a:latin typeface="Arial"/>
                <a:ea typeface="Arial"/>
                <a:cs typeface="Arial"/>
              </a:rPr>
              <a:t>TYPHOEUS / 内核 0.6.1 / 全链 70 秒 / 9 个只读工具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台风过后，三个问题必须当天回答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338328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48840"/>
            <a:ext cx="146304" cy="292608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33172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880360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布在哪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520440"/>
            <a:ext cx="2834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12 个点先布还是后布，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靠人抄台账对不上时间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148840"/>
            <a:ext cx="338328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2148840"/>
            <a:ext cx="146304" cy="292608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233172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880360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什么时候启动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3520440"/>
            <a:ext cx="2834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雨量到多少毫米、风到多少级，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预案里没有本片区的数字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2148840"/>
            <a:ext cx="338328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40" y="2148840"/>
            <a:ext cx="146304" cy="292608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1080" y="233172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880360"/>
            <a:ext cx="2834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花多少钱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3520440"/>
            <a:ext cx="2834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换 1% 的损失要投多少，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立项时给不出区间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4068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三个问题以前要等评估报告；报告出来，雨已经过去了。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做法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四步，把一场雨变成三张能用的单子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57400"/>
            <a:ext cx="685800" cy="685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76272"/>
            <a:ext cx="685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0312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推演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130552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把降雨解成水深场，逐笔核对水量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108960"/>
            <a:ext cx="685800" cy="685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27832"/>
            <a:ext cx="685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154679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编译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182112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八份产物：布点单、抢修单、价目表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160520"/>
            <a:ext cx="685800" cy="685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279392"/>
            <a:ext cx="685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20624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判据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33672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27 条判据，逐条给判定与实测值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212079"/>
            <a:ext cx="685800" cy="6858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330951"/>
            <a:ext cx="685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257799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交付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5285231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值班员拿布点单，规划岗拿价目表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C8880"/>
                </a:solidFill>
                <a:latin typeface="Arial"/>
                <a:ea typeface="Arial"/>
                <a:cs typeface="Arial"/>
              </a:rPr>
              <a:t>全链 70 秒，每个数字带配置与数据指纹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00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四层结构，层与层之间只通过已保存的文件通信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2103120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计算层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965960"/>
            <a:ext cx="6583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坡面流、入渗、能量、排水、汇流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208483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C8880"/>
                </a:solidFill>
                <a:latin typeface="Arial"/>
                <a:ea typeface="Arial"/>
                <a:cs typeface="Arial"/>
              </a:rPr>
              <a:t>纯 CPU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971800"/>
            <a:ext cx="2103120" cy="86868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0040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编译层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3108960"/>
            <a:ext cx="6583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八份产物：方案、排序、对账、定价、指标、报告、标定、涝点卡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322783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C8880"/>
                </a:solidFill>
                <a:latin typeface="Arial"/>
                <a:ea typeface="Arial"/>
                <a:cs typeface="Arial"/>
              </a:rPr>
              <a:t>JSON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114800"/>
            <a:ext cx="2103120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34340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服务层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4251960"/>
            <a:ext cx="6583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 个只读工具，4 条限制：越域拒答、弱基线不出排序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437083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C8880"/>
                </a:solidFill>
                <a:latin typeface="Arial"/>
                <a:ea typeface="Arial"/>
                <a:cs typeface="Arial"/>
              </a:rPr>
              <a:t>MCP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257800"/>
            <a:ext cx="2103120" cy="86868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548640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界面层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5394960"/>
            <a:ext cx="6583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值班台、驾驶舱、涝点卡、避险页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551383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C8880"/>
                </a:solidFill>
                <a:latin typeface="Arial"/>
                <a:ea typeface="Arial"/>
                <a:cs typeface="Arial"/>
              </a:rPr>
              <a:t>浏览器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008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C8880"/>
                </a:solidFill>
                <a:latin typeface="Arial"/>
                <a:ea typeface="Arial"/>
                <a:cs typeface="Arial"/>
              </a:rPr>
              <a:t>服务层只读已保存的文件，不重算、不改参数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内核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六步计算，每一步都能单独查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03120"/>
            <a:ext cx="1508760" cy="731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508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降雨</a:t>
            </a:r>
          </a:p>
        </p:txBody>
      </p:sp>
      <p:sp>
        <p:nvSpPr>
          <p:cNvPr id="7" name="Rectangle 6"/>
          <p:cNvSpPr/>
          <p:nvPr/>
        </p:nvSpPr>
        <p:spPr>
          <a:xfrm>
            <a:off x="2606040" y="2103120"/>
            <a:ext cx="150876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06040" y="2240280"/>
            <a:ext cx="1508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入渗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103120"/>
            <a:ext cx="1508760" cy="731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240280"/>
            <a:ext cx="1508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能量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103120"/>
            <a:ext cx="150876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2240280"/>
            <a:ext cx="1508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坡面流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2103120"/>
            <a:ext cx="1508760" cy="731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2240280"/>
            <a:ext cx="1508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排水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38360" y="2103120"/>
            <a:ext cx="150876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38360" y="2240280"/>
            <a:ext cx="1508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汇流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291840"/>
            <a:ext cx="106070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标量定总量，逐时序列定形状</a:t>
            </a:r>
          </a:p>
          <a:p>
            <a:pPr algn="l">
              <a:lnSpc>
                <a:spcPct val="145000"/>
              </a:lnSpc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土壤含水量驱动入渗，硬化面折减系数进指纹</a:t>
            </a:r>
          </a:p>
          <a:p>
            <a:pPr algn="l">
              <a:lnSpc>
                <a:spcPct val="145000"/>
              </a:lnSpc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净辐射、感热、潜热、土壤热流四项闭合</a:t>
            </a:r>
          </a:p>
          <a:p>
            <a:pPr algn="l">
              <a:lnSpc>
                <a:spcPct val="145000"/>
              </a:lnSpc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水量只搬运，不凭空产生</a:t>
            </a:r>
          </a:p>
          <a:p>
            <a:pPr algn="l">
              <a:lnSpc>
                <a:spcPct val="145000"/>
              </a:lnSpc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水深低于管顶不排水，顶托以上按水头过流</a:t>
            </a:r>
          </a:p>
          <a:p>
            <a:pPr algn="l">
              <a:lnSpc>
                <a:spcPct val="145000"/>
              </a:lnSpc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上游失去的水量完整计入受体格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12648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C8880"/>
                </a:solidFill>
                <a:latin typeface="Arial"/>
                <a:ea typeface="Arial"/>
                <a:cs typeface="Arial"/>
              </a:rPr>
              <a:t>守恒相对残差 4.14×10⁻9，容差 1×10⁻⁶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可复算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两枚指纹，一本水量账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C8880"/>
                </a:solidFill>
                <a:latin typeface="Arial"/>
                <a:ea typeface="Arial"/>
                <a:cs typeface="Arial"/>
              </a:rPr>
              <a:t>配置指纹 config_hash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3bccaa583d77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54680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C8880"/>
                </a:solidFill>
                <a:latin typeface="Arial"/>
                <a:ea typeface="Arial"/>
                <a:cs typeface="Arial"/>
              </a:rPr>
              <a:t>数据指纹 source_hash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20440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2f3ce75b9462f4f0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480560"/>
            <a:ext cx="49377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四层参数合成配置指纹，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数据与路径合成数据指纹。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011680"/>
            <a:ext cx="4480560" cy="1828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121408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C8880"/>
                </a:solidFill>
                <a:latin typeface="Arial"/>
                <a:ea typeface="Arial"/>
                <a:cs typeface="Arial"/>
              </a:rPr>
              <a:t>降雨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0574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250.1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788920"/>
            <a:ext cx="4480560" cy="1828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898648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C8880"/>
                </a:solidFill>
                <a:latin typeface="Arial"/>
                <a:ea typeface="Arial"/>
                <a:cs typeface="Arial"/>
              </a:rPr>
              <a:t>下渗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83464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5.49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3566160"/>
            <a:ext cx="4480560" cy="1828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675888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C8880"/>
                </a:solidFill>
                <a:latin typeface="Arial"/>
                <a:ea typeface="Arial"/>
                <a:cs typeface="Arial"/>
              </a:rPr>
              <a:t>排水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6118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220.6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4343400"/>
            <a:ext cx="4480560" cy="1828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453128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C8880"/>
                </a:solidFill>
                <a:latin typeface="Arial"/>
                <a:ea typeface="Arial"/>
                <a:cs typeface="Arial"/>
              </a:rPr>
              <a:t>域内蓄水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38912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16.64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25780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降雨 = 下渗 + 排水 + 边界出流 + 域内蓄水 + 截断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残差 4.14×10⁻9，超容差停算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一次推演，八份产物，三类读者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25603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预置方案单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79" y="1874519"/>
            <a:ext cx="2560320" cy="731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79" y="205740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恢复排序单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74519"/>
            <a:ext cx="25603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事件对账单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89719" y="1874519"/>
            <a:ext cx="2560320" cy="731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89719" y="205740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韧性价目表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834639"/>
            <a:ext cx="25603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01752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体检指标包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79" y="2834639"/>
            <a:ext cx="2560320" cy="731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79" y="301752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标准体检报告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834639"/>
            <a:ext cx="25603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01752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多事件标定单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89719" y="2834639"/>
            <a:ext cx="2560320" cy="7315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19" y="301752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涝点转译卡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16052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值班室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416052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28 张涝点卡：实测、推演、能否采信、处置建议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8188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规划岗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4818888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决策卡：五类分型，翻档雨量阈值，建议手段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477256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市民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5477256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避险页：只说哪条路别走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2021 年台风烟花，宁波鄞东南片区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250.1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C8880"/>
                </a:solidFill>
                <a:latin typeface="Arial"/>
                <a:ea typeface="Arial"/>
                <a:cs typeface="Arial"/>
              </a:rPr>
              <a:t>面雨量 mm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79" y="1874519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0.908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79" y="274320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C8880"/>
                </a:solidFill>
                <a:latin typeface="Arial"/>
                <a:ea typeface="Arial"/>
                <a:cs typeface="Arial"/>
              </a:rPr>
              <a:t>峰值水深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74519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74320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C8880"/>
                </a:solidFill>
                <a:latin typeface="Arial"/>
                <a:ea typeface="Arial"/>
                <a:cs typeface="Arial"/>
              </a:rPr>
              <a:t>建议布点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19" y="1874519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258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19" y="274320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C8880"/>
                </a:solidFill>
                <a:latin typeface="Arial"/>
                <a:ea typeface="Arial"/>
                <a:cs typeface="Arial"/>
              </a:rPr>
              <a:t>启动雨量 mm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4290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C8880"/>
                </a:solidFill>
                <a:latin typeface="Arial"/>
                <a:ea typeface="Arial"/>
                <a:cs typeface="Arial"/>
              </a:rPr>
              <a:t>积水分级（域内格点占比）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862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绿 &lt;0.1 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68880" y="3931920"/>
            <a:ext cx="4142780" cy="2743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38862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83.9%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453128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黄 0.1–0.2 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68880" y="4498848"/>
            <a:ext cx="661659" cy="274320"/>
          </a:xfrm>
          <a:prstGeom prst="rect">
            <a:avLst/>
          </a:prstGeom>
          <a:solidFill>
            <a:srgbClr val="8C8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5240" y="4453128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13.4%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20056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橙 0.2–0.5 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68880" y="5065776"/>
            <a:ext cx="133319" cy="2743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35240" y="5020056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2.7%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586983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红 ≥0.5 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68880" y="5632703"/>
            <a:ext cx="18288" cy="2743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35240" y="5586983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0.1%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3886200"/>
            <a:ext cx="2743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12 处点位、258 毫米启动线、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三级响应，可直接写进值班表。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标定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18 场台风、36 年，雨量和损失的关系稳定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面雨量翻倍，功能损失约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50292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4.3 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5029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幂律斜率 2.12，R² 0.88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秩相关 0.9945（13 场可比）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2103120"/>
            <a:ext cx="4206240" cy="18288"/>
          </a:xfrm>
          <a:prstGeom prst="rect">
            <a:avLst/>
          </a:prstGeom>
          <a:solidFill>
            <a:srgbClr val="8C8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21284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C8880"/>
                </a:solidFill>
                <a:latin typeface="Arial"/>
                <a:ea typeface="Arial"/>
                <a:cs typeface="Arial"/>
              </a:rPr>
              <a:t>样本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148839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1990–2025，18 场，36 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2971800"/>
            <a:ext cx="4206240" cy="18288"/>
          </a:xfrm>
          <a:prstGeom prst="rect">
            <a:avLst/>
          </a:prstGeom>
          <a:solidFill>
            <a:srgbClr val="8C8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308152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C8880"/>
                </a:solidFill>
                <a:latin typeface="Arial"/>
                <a:ea typeface="Arial"/>
                <a:cs typeface="Arial"/>
              </a:rPr>
              <a:t>实算成功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3017520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16 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3840479"/>
            <a:ext cx="4206240" cy="18288"/>
          </a:xfrm>
          <a:prstGeom prst="rect">
            <a:avLst/>
          </a:prstGeom>
          <a:solidFill>
            <a:srgbClr val="8C8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3950207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C8880"/>
                </a:solidFill>
                <a:latin typeface="Arial"/>
                <a:ea typeface="Arial"/>
                <a:cs typeface="Arial"/>
              </a:rPr>
              <a:t>致涝场次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3886199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14 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4709159"/>
            <a:ext cx="4206240" cy="18288"/>
          </a:xfrm>
          <a:prstGeom prst="rect">
            <a:avLst/>
          </a:prstGeom>
          <a:solidFill>
            <a:srgbClr val="8C8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481888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C8880"/>
                </a:solidFill>
                <a:latin typeface="Arial"/>
                <a:ea typeface="Arial"/>
                <a:cs typeface="Arial"/>
              </a:rPr>
              <a:t>年均事件率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4754879"/>
            <a:ext cx="2194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0.389 场/年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抢修排序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同样的队伍，按它排多恢复 27.8% 的功能面积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C8880"/>
                </a:solidFill>
                <a:latin typeface="Arial"/>
                <a:ea typeface="Arial"/>
                <a:cs typeface="Arial"/>
              </a:rPr>
              <a:t>相对双基线的提升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+27.8%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8056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随机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4507992"/>
            <a:ext cx="2571750" cy="292608"/>
          </a:xfrm>
          <a:prstGeom prst="rect">
            <a:avLst/>
          </a:prstGeom>
          <a:solidFill>
            <a:srgbClr val="8C8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0" y="448056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98348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按度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5010912"/>
            <a:ext cx="2906077" cy="292608"/>
          </a:xfrm>
          <a:prstGeom prst="rect">
            <a:avLst/>
          </a:prstGeom>
          <a:solidFill>
            <a:srgbClr val="8C88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498348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486400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次模贪心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5513832"/>
            <a:ext cx="3291840" cy="292608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0" y="5486400"/>
            <a:ext cx="822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377440"/>
            <a:ext cx="44805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评分窗口 72 小时，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与事件窗对齐。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排名受窗口影响，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数字要带窗口。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00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泛化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6868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 城 × 3 场，参数不逐城重标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场次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2011680" cy="1828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1800" y="19659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面雨量 mm</a:t>
            </a:r>
          </a:p>
        </p:txBody>
      </p:sp>
      <p:sp>
        <p:nvSpPr>
          <p:cNvPr id="9" name="Rectangle 8"/>
          <p:cNvSpPr/>
          <p:nvPr/>
        </p:nvSpPr>
        <p:spPr>
          <a:xfrm>
            <a:off x="2971800" y="2377440"/>
            <a:ext cx="2011680" cy="1828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19659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最大小时雨强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2377440"/>
            <a:ext cx="2011680" cy="1828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69480" y="19659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峰值 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2377440"/>
            <a:ext cx="2011680" cy="1828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06039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AMPIL 2018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606039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283.6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606039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11.35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2606039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0.612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2461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IN-FA 2021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32461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638.1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2461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7.56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32461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0.508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88620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DANAS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388620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232.2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388620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4.24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388620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0.387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80060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跟面雨量同序 0/5，跟最大小时雨强同序 5/5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3949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IN-FA 面雨量是 AMPIL 的 2.25 倍，峰值更低，因为雨摊在更长时间里。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下一步接亚小时雨强，比接更多年总量更有用。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8102E"/>
                </a:solidFill>
                <a:latin typeface="Arial"/>
                <a:ea typeface="Arial"/>
                <a:cs typeface="Arial"/>
              </a:rPr>
              <a:t>形态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6583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三种用法，一套数据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20240"/>
            <a:ext cx="128016" cy="86868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920240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DSH 插件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359152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9 个只读工具，护栏在工具层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154680"/>
            <a:ext cx="128016" cy="86868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154680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本地值班台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93592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三个数字，问题按钮，八份产物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389120"/>
            <a:ext cx="128016" cy="86868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4389120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离线验收包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828032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F4F1EA"/>
                </a:solidFill>
                <a:latin typeface="Arial"/>
                <a:ea typeface="Arial"/>
                <a:cs typeface="Arial"/>
              </a:rPr>
              <a:t>源码、数据、产物、一键验收</a:t>
            </a:r>
          </a:p>
        </p:txBody>
      </p:sp>
      <p:pic>
        <p:nvPicPr>
          <p:cNvPr id="14" name="Picture 13" descr="webapp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783080"/>
            <a:ext cx="5760720" cy="4020502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989320" y="1783080"/>
            <a:ext cx="5760720" cy="4020502"/>
          </a:xfrm>
          <a:prstGeom prst="rect">
            <a:avLst/>
          </a:pr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5989320"/>
            <a:ext cx="5760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C8880"/>
                </a:solidFill>
                <a:latin typeface="Arial"/>
                <a:ea typeface="Arial"/>
                <a:cs typeface="Arial"/>
              </a:rPr>
              <a:t>值班台：三个数字、问题按钮、审计折叠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1120000">
            <a:off x="-1097280" y="4389120"/>
            <a:ext cx="14630400" cy="822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371600"/>
            <a:ext cx="822960" cy="8229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2412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今天就能用：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排出 12 个点，定下 258 毫米的启动线，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排好抢修顺序。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6072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C8880"/>
                </a:solidFill>
                <a:latin typeface="Arial"/>
                <a:ea typeface="Arial"/>
                <a:cs typeface="Arial"/>
              </a:rPr>
              <a:t>18 场台风 / 36 年 / 全链 70 秒 / 9 个只读工具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